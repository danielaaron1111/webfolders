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ssmaryd43@gmail.com" initials="m" lastIdx="1" clrIdx="0">
    <p:extLst>
      <p:ext uri="{19B8F6BF-5375-455C-9EA6-DF929625EA0E}">
        <p15:presenceInfo xmlns:p15="http://schemas.microsoft.com/office/powerpoint/2012/main" userId="aba7259c6dcd81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8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22T15:12:15.423" idx="1">
    <p:pos x="10" y="10"/>
    <p:text/>
    <p:extLst>
      <p:ext uri="{C676402C-5697-4E1C-873F-D02D1690AC5C}">
        <p15:threadingInfo xmlns:p15="http://schemas.microsoft.com/office/powerpoint/2012/main" timeZoneBias="42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7T20:56:40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18 652,'-1'0'101,"1"-1"0,-1 1-1,1-1 1,-1 1 0,1 0 0,-1-1 0,1 1 0,0-1-1,-1 0 1,1 1 0,-1-1 0,1 1 0,0-1-1,0 1 1,-1-1 0,1 0 0,0 1 0,0-1-1,0 0 1,0 1 0,0-1 0,0 0 0,0 1-1,0-1 1,0 1 0,0-1 0,0 0 0,0 1-1,1-2 1,18 5 963,42 28-1001,-48-24 377,173 105 394,34 28-408,-86-50-256,58 42 35,-65-40 168,-56-39-81,-61-46-197,-1 0 0,0 1 1,0 0-1,11 15 0,-17-20-91,-1-1-1,1 0 1,0 1-1,0-1 1,0 0-1,0 0 1,0 0-1,5 1 1,-6-2-157,-2-4-904,0 0 772,0-1 1,-1 1-1,1 0 0,-1 0 1,0 0-1,0 0 1,0 0-1,0 0 0,0 0 1,-1 0-1,1 0 1,-4-4-1,0 2-1000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7T20:56:4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12 885 3880,'0'0'-293,"-8"4"-550,5-3 2499,52-44-1170,-2-1 0,42-53-1,-5 6-259,-19 21-299,48-46-406,-44 54 431,134-91 0,-110 84 82,-62 44-33,1 2 0,36-21 1,19-3 460,-85 46-408,9-4-62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7T20:56:45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1 3308,'0'0'-182,"-18"40"528,8-14 64,0 0 1,-2-1-1,-25 41 1,-9 20 45,-130 281 428,158-326-750,-1 1 175,-41 70 0,24-41 22,9-16 7,-7 17 58,33-71-362,-3 10-115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7T20:56:4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9 3772,'0'0'-176,"-7"-6"-366,7 6 598,0 0 0,0 0 0,1 0 0,-1 0 0,0 0 0,0 0 0,0 0 1,0 0-1,0 0 0,0 0 0,0 0 0,0 0 0,0 0 0,0 0 0,0-1 0,0 1 0,1 0 0,-1 0 0,0 0 1,0 0-1,0 0 0,0 0 0,0 0 0,0 0 0,0 0 0,0 0 0,0-1 0,0 1 0,0 0 0,0 0 1,0 0-1,0 0 0,0 0 0,0 0 0,0 0 0,0 0 0,0-1 0,7 4 89,1 0 0,-1 0 1,0 0-1,0 1 0,0 0 0,-1 0 0,1 1 0,6 6 0,55 51 725,-20-16-411,94 69-1,-98-83-486,58 57-1,-9-6-3,-18-21 38,117 90 78,-112-95 52,-79-56-133,5 4 157,2 2-762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6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3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3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9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0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8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0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1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4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FF3104B8-AB6C-4D81-AC6B-DFAAC88C65E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18CF0C3-CA58-46AE-982E-9E92CAAAF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94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omments" Target="../comments/comment1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opedia.com/definition/1200/entity-relationship-diagram-e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B152-7AF2-463A-9A8E-5EB8ADC434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Entity Relationship Diagrams (ERD)</a:t>
            </a:r>
          </a:p>
        </p:txBody>
      </p:sp>
    </p:spTree>
    <p:extLst>
      <p:ext uri="{BB962C8B-B14F-4D97-AF65-F5344CB8AC3E}">
        <p14:creationId xmlns:p14="http://schemas.microsoft.com/office/powerpoint/2010/main" val="405793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589B-EDD4-4CBE-A90E-1A014236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B6A8-9F97-4524-868B-F1997B266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entity-relationship diagram (ERD) is a data modeling technique that graphically illustrates an information system’s entities and the relationships between those entities. </a:t>
            </a:r>
          </a:p>
          <a:p>
            <a:endParaRPr lang="en-US" sz="2400" dirty="0"/>
          </a:p>
          <a:p>
            <a:r>
              <a:rPr lang="en-US" sz="2400" dirty="0"/>
              <a:t>An ERD is a conceptual and representational model of data used to represent the entity framework infrastructure.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F8A7-14F3-43AA-8FF2-6F19FEAA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elements of an ERD are: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DCE0-2A39-4245-B129-BBD414464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Entities</a:t>
            </a:r>
          </a:p>
          <a:p>
            <a:pPr marL="457200" lvl="1" indent="0">
              <a:buNone/>
            </a:pPr>
            <a:endParaRPr lang="en-US" sz="2600" dirty="0"/>
          </a:p>
          <a:p>
            <a:r>
              <a:rPr lang="en-US" sz="2800" dirty="0"/>
              <a:t>Relationships</a:t>
            </a:r>
          </a:p>
          <a:p>
            <a:pPr lvl="1"/>
            <a:endParaRPr lang="en-US" sz="2600" dirty="0"/>
          </a:p>
          <a:p>
            <a:r>
              <a:rPr lang="en-US" sz="2800" dirty="0"/>
              <a:t>Attributes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7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56BC-31BC-405E-BCC7-8C96F0B0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4422-E945-490D-BD92-36EE4067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7311615" cy="4206240"/>
          </a:xfrm>
        </p:spPr>
        <p:txBody>
          <a:bodyPr>
            <a:normAutofit/>
          </a:bodyPr>
          <a:lstStyle/>
          <a:p>
            <a:r>
              <a:rPr lang="en-US" dirty="0"/>
              <a:t>Must balance with other diagrams – same name in system and process DFD</a:t>
            </a:r>
          </a:p>
          <a:p>
            <a:r>
              <a:rPr lang="en-US" dirty="0"/>
              <a:t>An entity is a real-world item or concept that exists on its own. </a:t>
            </a:r>
          </a:p>
          <a:p>
            <a:r>
              <a:rPr lang="en-US" dirty="0"/>
              <a:t>Entities are equivalent to database tables in a relational database, each row of the table represents an instance of that entity.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99D92-7728-4E10-8743-57C4AB453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535" y="2224578"/>
            <a:ext cx="3045384" cy="345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9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506D-FC34-42E4-964E-E2AD73F9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4220BF-1201-4A61-A770-05A51BA19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82" y="1697038"/>
            <a:ext cx="4868011" cy="419576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721EAE-8AE2-41C7-9E2C-BA48AC5A9669}"/>
              </a:ext>
            </a:extLst>
          </p:cNvPr>
          <p:cNvSpPr/>
          <p:nvPr/>
        </p:nvSpPr>
        <p:spPr>
          <a:xfrm>
            <a:off x="6337300" y="1697038"/>
            <a:ext cx="4868011" cy="41957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A relationship is the association that describes the interaction between entities.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Cardinality</a:t>
            </a:r>
            <a:r>
              <a:rPr lang="en-US" dirty="0">
                <a:solidFill>
                  <a:schemeClr val="bg1"/>
                </a:solidFill>
              </a:rPr>
              <a:t> refers to the number of instances of one entity that are associated with an instance of another entity.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general, there may be one-to-one, one-to-many, or many-to-many relationships.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Ordinality</a:t>
            </a:r>
            <a:r>
              <a:rPr lang="en-US" dirty="0">
                <a:solidFill>
                  <a:schemeClr val="bg1"/>
                </a:solidFill>
              </a:rPr>
              <a:t> relates to whether an entity is mandatory or optional with another associated entity.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40DCA7-613D-534C-B58C-D3E02CA9902C}"/>
              </a:ext>
            </a:extLst>
          </p:cNvPr>
          <p:cNvGrpSpPr/>
          <p:nvPr/>
        </p:nvGrpSpPr>
        <p:grpSpPr>
          <a:xfrm>
            <a:off x="2249015" y="2600137"/>
            <a:ext cx="401400" cy="320760"/>
            <a:chOff x="2249015" y="2600137"/>
            <a:chExt cx="40140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359D8F-AF9C-45B4-A928-32D05A59AC1F}"/>
                    </a:ext>
                  </a:extLst>
                </p14:cNvPr>
                <p14:cNvContentPartPr/>
                <p14:nvPr/>
              </p14:nvContentPartPr>
              <p14:xfrm>
                <a:off x="2249015" y="2603737"/>
                <a:ext cx="401400" cy="264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359D8F-AF9C-45B4-A928-32D05A59AC1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40375" y="2594737"/>
                  <a:ext cx="4190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741DB5-BEE6-947C-40A7-FB3E37EA6F97}"/>
                    </a:ext>
                  </a:extLst>
                </p14:cNvPr>
                <p14:cNvContentPartPr/>
                <p14:nvPr/>
              </p14:nvContentPartPr>
              <p14:xfrm>
                <a:off x="2273495" y="2600137"/>
                <a:ext cx="375840" cy="320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741DB5-BEE6-947C-40A7-FB3E37EA6F9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64855" y="2591137"/>
                  <a:ext cx="393480" cy="33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F7FD5C-00FF-6C70-3BD7-551D51A06D45}"/>
              </a:ext>
            </a:extLst>
          </p:cNvPr>
          <p:cNvGrpSpPr/>
          <p:nvPr/>
        </p:nvGrpSpPr>
        <p:grpSpPr>
          <a:xfrm>
            <a:off x="2278175" y="5314537"/>
            <a:ext cx="335160" cy="375120"/>
            <a:chOff x="2278175" y="5314537"/>
            <a:chExt cx="33516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95F1A6-C277-2CB1-C945-850881DA2C10}"/>
                    </a:ext>
                  </a:extLst>
                </p14:cNvPr>
                <p14:cNvContentPartPr/>
                <p14:nvPr/>
              </p14:nvContentPartPr>
              <p14:xfrm>
                <a:off x="2345495" y="5314537"/>
                <a:ext cx="182880" cy="375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95F1A6-C277-2CB1-C945-850881DA2C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36495" y="5305897"/>
                  <a:ext cx="2005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444E29B-8045-E44E-C6CB-558A40483340}"/>
                    </a:ext>
                  </a:extLst>
                </p14:cNvPr>
                <p14:cNvContentPartPr/>
                <p14:nvPr/>
              </p14:nvContentPartPr>
              <p14:xfrm>
                <a:off x="2278175" y="5356297"/>
                <a:ext cx="335160" cy="270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444E29B-8045-E44E-C6CB-558A404833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69175" y="5347297"/>
                  <a:ext cx="352800" cy="2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26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7BCF-054B-47D5-B879-99655C38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4B4EA-D0C7-4188-84AA-DE3C35350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of the relationship between two entities</a:t>
            </a:r>
          </a:p>
          <a:p>
            <a:r>
              <a:rPr lang="en-US" dirty="0"/>
              <a:t>Verbs are expected here</a:t>
            </a:r>
          </a:p>
          <a:p>
            <a:r>
              <a:rPr lang="en-US" dirty="0"/>
              <a:t>Can either have a label at either end or one with a “/” separating </a:t>
            </a:r>
          </a:p>
          <a:p>
            <a:pPr lvl="1"/>
            <a:r>
              <a:rPr lang="en-US" dirty="0"/>
              <a:t>             “Can contain / is on”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                     OR</a:t>
            </a:r>
          </a:p>
          <a:p>
            <a:pPr lvl="1"/>
            <a:r>
              <a:rPr lang="en-US" dirty="0"/>
              <a:t>Can contain					is 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Reads from parent to child (one to many) or left to right, top to bottom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B6EFE5-C59F-46AC-932C-FEFD2FF58072}"/>
              </a:ext>
            </a:extLst>
          </p:cNvPr>
          <p:cNvCxnSpPr/>
          <p:nvPr/>
        </p:nvCxnSpPr>
        <p:spPr>
          <a:xfrm>
            <a:off x="2425700" y="4953000"/>
            <a:ext cx="3111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52B4C2-637B-48FC-834B-CCDB1E939428}"/>
              </a:ext>
            </a:extLst>
          </p:cNvPr>
          <p:cNvCxnSpPr/>
          <p:nvPr/>
        </p:nvCxnSpPr>
        <p:spPr>
          <a:xfrm>
            <a:off x="2298700" y="3784600"/>
            <a:ext cx="3111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03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638A-E73A-4383-95FC-0E47A389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B58A-2E16-47BC-A895-F91A1451E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known as a column, an attribute is a </a:t>
            </a:r>
            <a:r>
              <a:rPr lang="en-US" b="1" dirty="0"/>
              <a:t>property or characteristic that describes the entity that holds it</a:t>
            </a:r>
            <a:r>
              <a:rPr lang="en-US" dirty="0"/>
              <a:t>. </a:t>
            </a:r>
          </a:p>
          <a:p>
            <a:r>
              <a:rPr lang="en-US" dirty="0"/>
              <a:t>A primary key, also known as PK, is a special kind of entity attribute that </a:t>
            </a:r>
            <a:r>
              <a:rPr lang="en-US" b="1" dirty="0"/>
              <a:t>uniquely defines a record in a database table</a:t>
            </a:r>
            <a:r>
              <a:rPr lang="en-US" dirty="0"/>
              <a:t>. In other words, there must not be two (or more) records that share the same value for the primary key attribute.</a:t>
            </a:r>
          </a:p>
          <a:p>
            <a:pPr lvl="1"/>
            <a:r>
              <a:rPr lang="en-US" dirty="0"/>
              <a:t>PK must be Unique, Stable, and NOT NULL.</a:t>
            </a:r>
          </a:p>
          <a:p>
            <a:r>
              <a:rPr lang="en-US" dirty="0"/>
              <a:t>A foreign key, also known as FK, is a </a:t>
            </a:r>
            <a:r>
              <a:rPr lang="en-US" b="1" dirty="0"/>
              <a:t>reference to a primary key in a table</a:t>
            </a:r>
            <a:r>
              <a:rPr lang="en-US" dirty="0"/>
              <a:t>. It is used to identify the relationships between entities. Note that foreign keys need not be unique. Multiple records can share the same values.</a:t>
            </a:r>
          </a:p>
          <a:p>
            <a:r>
              <a:rPr lang="en-US" dirty="0"/>
              <a:t>Must list mentioned ones from specs and need to have at least 3 per entity</a:t>
            </a:r>
          </a:p>
        </p:txBody>
      </p:sp>
    </p:spTree>
    <p:extLst>
      <p:ext uri="{BB962C8B-B14F-4D97-AF65-F5344CB8AC3E}">
        <p14:creationId xmlns:p14="http://schemas.microsoft.com/office/powerpoint/2010/main" val="257141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05CE-4AA1-41A2-B0A3-0284F918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involved in creating an ERD include: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65E2-278F-4B12-A5D9-229FFA8F6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800" dirty="0"/>
              <a:t>Identifying and defining the entities</a:t>
            </a:r>
          </a:p>
          <a:p>
            <a:r>
              <a:rPr lang="en-US" sz="2800" dirty="0"/>
              <a:t>Determining all interactions between the entities</a:t>
            </a:r>
          </a:p>
          <a:p>
            <a:r>
              <a:rPr lang="en-US" sz="2800" dirty="0"/>
              <a:t>Analyzing the nature of interactions/determining the cardinality of the relationships</a:t>
            </a:r>
          </a:p>
          <a:p>
            <a:r>
              <a:rPr lang="en-US" sz="2800" dirty="0"/>
              <a:t>Determining the attributes of each entity</a:t>
            </a:r>
          </a:p>
          <a:p>
            <a:r>
              <a:rPr lang="en-US" sz="2800" dirty="0"/>
              <a:t>Creating the ERD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9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C12A-C27D-4D6E-BE96-133C230D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11" y="211418"/>
            <a:ext cx="9404723" cy="81728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B202-2196-49C4-A0B6-320A031DC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82" y="1856096"/>
            <a:ext cx="5705940" cy="4790486"/>
          </a:xfrm>
        </p:spPr>
        <p:txBody>
          <a:bodyPr>
            <a:normAutofit/>
          </a:bodyPr>
          <a:lstStyle/>
          <a:p>
            <a:r>
              <a:rPr lang="en-US" dirty="0"/>
              <a:t>Employee</a:t>
            </a:r>
          </a:p>
          <a:p>
            <a:pPr lvl="1"/>
            <a:r>
              <a:rPr lang="en-US" dirty="0"/>
              <a:t>Is part of one department</a:t>
            </a:r>
          </a:p>
          <a:p>
            <a:pPr lvl="1"/>
            <a:r>
              <a:rPr lang="en-US" dirty="0"/>
              <a:t>Must belong to a department</a:t>
            </a:r>
          </a:p>
          <a:p>
            <a:pPr lvl="1"/>
            <a:r>
              <a:rPr lang="en-US" dirty="0"/>
              <a:t>May or may not have a manager</a:t>
            </a:r>
          </a:p>
          <a:p>
            <a:pPr lvl="1"/>
            <a:r>
              <a:rPr lang="en-US" dirty="0"/>
              <a:t>Can have 0 or many employee reviews – depending on their length of service</a:t>
            </a:r>
          </a:p>
          <a:p>
            <a:r>
              <a:rPr lang="en-US" dirty="0"/>
              <a:t>Department</a:t>
            </a:r>
          </a:p>
          <a:p>
            <a:pPr lvl="1"/>
            <a:r>
              <a:rPr lang="en-US" dirty="0"/>
              <a:t>Can have many employees</a:t>
            </a:r>
          </a:p>
          <a:p>
            <a:pPr lvl="1"/>
            <a:r>
              <a:rPr lang="en-US" dirty="0"/>
              <a:t>Must have at least one employee to be considered a department</a:t>
            </a:r>
          </a:p>
          <a:p>
            <a:pPr lvl="1"/>
            <a:r>
              <a:rPr lang="en-US" dirty="0"/>
              <a:t>A department with more than 3 employees must have a manager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5B847-88C4-4AA3-A82E-1EB1B95EE5A9}"/>
              </a:ext>
            </a:extLst>
          </p:cNvPr>
          <p:cNvSpPr txBox="1"/>
          <p:nvPr/>
        </p:nvSpPr>
        <p:spPr>
          <a:xfrm>
            <a:off x="6509980" y="1856096"/>
            <a:ext cx="51042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manage more than one department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Has 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Creates yearly performance review for every 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Employee 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be associated to an employee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 created by a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5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C12A-C27D-4D6E-BE96-133C230D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11" y="211418"/>
            <a:ext cx="9404723" cy="81728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9023A7-5ACA-4AF6-96DD-D860BB8F2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984" y="2017525"/>
            <a:ext cx="7051431" cy="442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64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A7DE-3519-49AA-AB2B-6D2409FA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45144-4B79-4501-8877-D9C3466E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Prepared by Maryanne Doucette</a:t>
            </a:r>
          </a:p>
          <a:p>
            <a:r>
              <a:rPr lang="en-US" dirty="0"/>
              <a:t>Last updated 2/22/20</a:t>
            </a:r>
          </a:p>
          <a:p>
            <a:r>
              <a:rPr lang="en-US" dirty="0"/>
              <a:t>References</a:t>
            </a:r>
          </a:p>
          <a:p>
            <a:pPr lvl="1"/>
            <a:r>
              <a:rPr lang="en-US" dirty="0"/>
              <a:t>Techopedia - </a:t>
            </a:r>
            <a:r>
              <a:rPr lang="en-US" dirty="0">
                <a:hlinkClick r:id="rId2"/>
              </a:rPr>
              <a:t>https://www.techopedia.com/definition/1200/entity-relationship-diagram-erd</a:t>
            </a:r>
            <a:endParaRPr lang="en-US" dirty="0"/>
          </a:p>
          <a:p>
            <a:pPr lvl="1"/>
            <a:r>
              <a:rPr lang="en-US" dirty="0"/>
              <a:t>Visual Paradigm, What is Entity Relationship Diagram (ERD); https://www.visual-paradigm.com/guide/data-modeling/what-is-entity-relationship-diagram/</a:t>
            </a:r>
          </a:p>
        </p:txBody>
      </p:sp>
    </p:spTree>
    <p:extLst>
      <p:ext uri="{BB962C8B-B14F-4D97-AF65-F5344CB8AC3E}">
        <p14:creationId xmlns:p14="http://schemas.microsoft.com/office/powerpoint/2010/main" val="1969968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Wingdings</vt:lpstr>
      <vt:lpstr>Banded</vt:lpstr>
      <vt:lpstr>Entity Relationship Diagrams (ERD)</vt:lpstr>
      <vt:lpstr>Definition and Purpose</vt:lpstr>
      <vt:lpstr>The elements of an ERD are: </vt:lpstr>
      <vt:lpstr>Entities</vt:lpstr>
      <vt:lpstr>Relationships</vt:lpstr>
      <vt:lpstr>Relationships</vt:lpstr>
      <vt:lpstr>Attributes</vt:lpstr>
      <vt:lpstr>Steps involved in creating an ERD include: </vt:lpstr>
      <vt:lpstr>Example</vt:lpstr>
      <vt:lpstr>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Relationship Diagrams (ERD)</dc:title>
  <dc:creator>Leslie Dietz</dc:creator>
  <cp:lastModifiedBy>Maryanne Doucette</cp:lastModifiedBy>
  <cp:revision>7</cp:revision>
  <dcterms:created xsi:type="dcterms:W3CDTF">2020-02-26T16:10:50Z</dcterms:created>
  <dcterms:modified xsi:type="dcterms:W3CDTF">2025-03-17T20:56:57Z</dcterms:modified>
</cp:coreProperties>
</file>